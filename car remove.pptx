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76" r:id="rId3"/>
    <p:sldId id="258" r:id="rId4"/>
    <p:sldId id="274" r:id="rId5"/>
    <p:sldId id="260" r:id="rId6"/>
    <p:sldId id="267" r:id="rId7"/>
    <p:sldId id="262" r:id="rId8"/>
    <p:sldId id="277" r:id="rId9"/>
    <p:sldId id="278" r:id="rId10"/>
    <p:sldId id="279" r:id="rId11"/>
    <p:sldId id="280" r:id="rId12"/>
    <p:sldId id="281" r:id="rId13"/>
    <p:sldId id="271" r:id="rId14"/>
    <p:sldId id="275" r:id="rId15"/>
  </p:sldIdLst>
  <p:sldSz cx="9144000" cy="5143500" type="screen16x9"/>
  <p:notesSz cx="6858000" cy="9144000"/>
  <p:embeddedFontLst>
    <p:embeddedFont>
      <p:font typeface="Nunito" pitchFamily="2" charset="0"/>
      <p:regular r:id="rId17"/>
      <p:bold r:id="rId18"/>
      <p:italic r:id="rId19"/>
      <p:boldItalic r:id="rId20"/>
    </p:embeddedFont>
    <p:embeddedFont>
      <p:font typeface="Raleway" pitchFamily="2" charset="0"/>
      <p:regular r:id="rId21"/>
      <p:bold r:id="rId22"/>
      <p:italic r:id="rId23"/>
      <p:boldItalic r:id="rId24"/>
    </p:embeddedFont>
    <p:embeddedFont>
      <p:font typeface="Raleway Light" pitchFamily="2" charset="0"/>
      <p:regular r:id="rId25"/>
      <p:bold r:id="rId26"/>
      <p:italic r:id="rId27"/>
      <p:boldItalic r:id="rId28"/>
    </p:embeddedFont>
    <p:embeddedFont>
      <p:font typeface="Raleway SemiBold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50684f8d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50684f8d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469CE57-B5B5-1DAC-0D65-00EE97D1B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b61ea6080_2_55:notes">
            <a:extLst>
              <a:ext uri="{FF2B5EF4-FFF2-40B4-BE49-F238E27FC236}">
                <a16:creationId xmlns:a16="http://schemas.microsoft.com/office/drawing/2014/main" id="{F24CC779-69FF-C07A-8EE3-A6B4D6D59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b61ea6080_2_55:notes">
            <a:extLst>
              <a:ext uri="{FF2B5EF4-FFF2-40B4-BE49-F238E27FC236}">
                <a16:creationId xmlns:a16="http://schemas.microsoft.com/office/drawing/2014/main" id="{2C5679AA-11A9-AC5B-5EFD-AA123DAC8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2866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50684f8d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50684f8d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D19B5ADE-5EFF-959B-E836-DB2EFD67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50684f8d5_0_105:notes">
            <a:extLst>
              <a:ext uri="{FF2B5EF4-FFF2-40B4-BE49-F238E27FC236}">
                <a16:creationId xmlns:a16="http://schemas.microsoft.com/office/drawing/2014/main" id="{80D4C2E6-9CF6-CF41-0DBC-415087604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50684f8d5_0_105:notes">
            <a:extLst>
              <a:ext uri="{FF2B5EF4-FFF2-40B4-BE49-F238E27FC236}">
                <a16:creationId xmlns:a16="http://schemas.microsoft.com/office/drawing/2014/main" id="{BD94AAC0-C2CF-ADAF-D37F-EBA9318C09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9666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50684f8d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50684f8d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50684f8d5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50684f8d5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CB9F6B-D469-0E6D-8AE3-36B089E57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>
            <a:extLst>
              <a:ext uri="{FF2B5EF4-FFF2-40B4-BE49-F238E27FC236}">
                <a16:creationId xmlns:a16="http://schemas.microsoft.com/office/drawing/2014/main" id="{8CD6FF1A-8AA0-AD74-25BD-62E4DD5DB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>
            <a:extLst>
              <a:ext uri="{FF2B5EF4-FFF2-40B4-BE49-F238E27FC236}">
                <a16:creationId xmlns:a16="http://schemas.microsoft.com/office/drawing/2014/main" id="{6C5E7FDE-D395-939C-F878-F0278CB6C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209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8D563FB-FC5D-3119-473B-CFAFD2C9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>
            <a:extLst>
              <a:ext uri="{FF2B5EF4-FFF2-40B4-BE49-F238E27FC236}">
                <a16:creationId xmlns:a16="http://schemas.microsoft.com/office/drawing/2014/main" id="{75DD987E-EE5F-01B1-DA6C-8CE91AB1E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>
            <a:extLst>
              <a:ext uri="{FF2B5EF4-FFF2-40B4-BE49-F238E27FC236}">
                <a16:creationId xmlns:a16="http://schemas.microsoft.com/office/drawing/2014/main" id="{35469559-34C5-AFDE-9091-3D3DE9DCE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9506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FAEC37-0ECF-A226-9743-EA675851A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>
            <a:extLst>
              <a:ext uri="{FF2B5EF4-FFF2-40B4-BE49-F238E27FC236}">
                <a16:creationId xmlns:a16="http://schemas.microsoft.com/office/drawing/2014/main" id="{E4C9DF57-0129-7A7C-1C20-2AFEE8C3BF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>
            <a:extLst>
              <a:ext uri="{FF2B5EF4-FFF2-40B4-BE49-F238E27FC236}">
                <a16:creationId xmlns:a16="http://schemas.microsoft.com/office/drawing/2014/main" id="{B1A66746-F8C5-3E7B-DF9F-14FCEBCB6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42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F4D93C1-4681-C5ED-996C-A23C02FB7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>
            <a:extLst>
              <a:ext uri="{FF2B5EF4-FFF2-40B4-BE49-F238E27FC236}">
                <a16:creationId xmlns:a16="http://schemas.microsoft.com/office/drawing/2014/main" id="{3B91F100-A5FE-0D22-1882-4948BAFF3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>
            <a:extLst>
              <a:ext uri="{FF2B5EF4-FFF2-40B4-BE49-F238E27FC236}">
                <a16:creationId xmlns:a16="http://schemas.microsoft.com/office/drawing/2014/main" id="{C97B349E-EAFB-BF65-9A66-871570681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308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194466C-95D6-D29C-1C9D-D99BA6C62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>
            <a:extLst>
              <a:ext uri="{FF2B5EF4-FFF2-40B4-BE49-F238E27FC236}">
                <a16:creationId xmlns:a16="http://schemas.microsoft.com/office/drawing/2014/main" id="{0FA55C67-229C-4CBB-B08F-CC4DD44A5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>
            <a:extLst>
              <a:ext uri="{FF2B5EF4-FFF2-40B4-BE49-F238E27FC236}">
                <a16:creationId xmlns:a16="http://schemas.microsoft.com/office/drawing/2014/main" id="{DD1847F8-E9CD-1DA8-02EB-438BB18D0C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7500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50684f8d5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50684f8d5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8D13F2BF-9B9D-B3CE-F1F2-876DE36FA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50684f8d5_0_166:notes">
            <a:extLst>
              <a:ext uri="{FF2B5EF4-FFF2-40B4-BE49-F238E27FC236}">
                <a16:creationId xmlns:a16="http://schemas.microsoft.com/office/drawing/2014/main" id="{0B7622F2-E396-521D-BF4C-66F95916A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50684f8d5_0_166:notes">
            <a:extLst>
              <a:ext uri="{FF2B5EF4-FFF2-40B4-BE49-F238E27FC236}">
                <a16:creationId xmlns:a16="http://schemas.microsoft.com/office/drawing/2014/main" id="{995515C4-1C1A-FC88-3486-F2A72CB78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4232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0" y="1337340"/>
            <a:ext cx="9144000" cy="2651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52400" y="1836825"/>
            <a:ext cx="4775400" cy="10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aleway SemiBold"/>
              <a:buNone/>
              <a:defRPr sz="3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None/>
              <a:defRPr sz="14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52400" y="4115125"/>
            <a:ext cx="88128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Members: 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 b="0">
                <a:latin typeface="Raleway Light"/>
                <a:ea typeface="Raleway Light"/>
                <a:cs typeface="Raleway Light"/>
                <a:sym typeface="Raleway Light"/>
              </a:rPr>
              <a:t>Team Member#1 - Team Member#2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 b="0">
                <a:latin typeface="Raleway Light"/>
                <a:ea typeface="Raleway Light"/>
                <a:cs typeface="Raleway Light"/>
                <a:sym typeface="Raleway Light"/>
              </a:rPr>
              <a:t>Team Member#3 - Team Member#4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 b="0">
                <a:latin typeface="Raleway Light"/>
                <a:ea typeface="Raleway Light"/>
                <a:cs typeface="Raleway Light"/>
                <a:sym typeface="Raleway Light"/>
              </a:rPr>
              <a:t>Team Member#5 - Team Member#6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r="2676"/>
          <a:stretch/>
        </p:blipFill>
        <p:spPr>
          <a:xfrm>
            <a:off x="6568250" y="1836825"/>
            <a:ext cx="2092075" cy="1652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  <a:solidFill>
            <a:srgbClr val="F2735E"/>
          </a:solidFill>
          <a:effectLst>
            <a:outerShdw blurRad="71438" dist="19050" dir="5400000" algn="bl" rotWithShape="0">
              <a:srgbClr val="000000">
                <a:alpha val="51000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/>
        </p:nvSpPr>
        <p:spPr>
          <a:xfrm>
            <a:off x="311700" y="445025"/>
            <a:ext cx="6327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" name="Google Shape;22;p4"/>
          <p:cNvPicPr preferRelativeResize="0"/>
          <p:nvPr userDrawn="1"/>
        </p:nvPicPr>
        <p:blipFill rotWithShape="1">
          <a:blip r:embed="rId2">
            <a:alphaModFix/>
          </a:blip>
          <a:srcRect l="25636" t="25500" r="19712" b="25030"/>
          <a:stretch/>
        </p:blipFill>
        <p:spPr>
          <a:xfrm>
            <a:off x="327200" y="459053"/>
            <a:ext cx="601700" cy="544635"/>
          </a:xfrm>
          <a:prstGeom prst="rect">
            <a:avLst/>
          </a:prstGeom>
          <a:noFill/>
          <a:ln w="9525" cap="flat" cmpd="sng">
            <a:solidFill>
              <a:srgbClr val="F2735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 dirty="0"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" name="Google Shape;4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wo columns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aleway SemiBold"/>
              <a:buNone/>
              <a:defRPr sz="2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ctrTitle"/>
          </p:nvPr>
        </p:nvSpPr>
        <p:spPr>
          <a:xfrm>
            <a:off x="152400" y="1836825"/>
            <a:ext cx="5542156" cy="10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Car Background Removal</a:t>
            </a:r>
            <a:endParaRPr dirty="0"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35" dirty="0"/>
              <a:t>Supervised by:</a:t>
            </a:r>
            <a:endParaRPr sz="1435" dirty="0"/>
          </a:p>
          <a:p>
            <a:pPr marL="457200" lvl="0" indent="-31972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35"/>
              <a:buChar char="●"/>
            </a:pPr>
            <a:r>
              <a:rPr lang="en-US" sz="1435" dirty="0"/>
              <a:t>Hind Adel </a:t>
            </a:r>
            <a:endParaRPr sz="1435" dirty="0"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52400" y="4115125"/>
            <a:ext cx="8812800" cy="9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Members: </a:t>
            </a:r>
            <a:endParaRPr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" sz="1000" b="0" dirty="0">
                <a:latin typeface="Raleway Light"/>
                <a:ea typeface="Raleway Light"/>
                <a:cs typeface="Raleway Light"/>
                <a:sym typeface="Raleway Light"/>
              </a:rPr>
              <a:t>Ahmed Hamdy 230103760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" sz="1000" b="0" dirty="0">
                <a:latin typeface="Raleway Light"/>
                <a:ea typeface="Raleway Light"/>
                <a:cs typeface="Raleway Light"/>
                <a:sym typeface="Raleway Light"/>
              </a:rPr>
              <a:t>Abdo Fouda - 230104495</a:t>
            </a:r>
            <a:endParaRPr lang="en-US"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US" sz="1000" b="0" dirty="0">
                <a:latin typeface="Raleway Light"/>
                <a:ea typeface="Raleway Light"/>
                <a:cs typeface="Raleway Light"/>
                <a:sym typeface="Raleway Light"/>
              </a:rPr>
              <a:t>Alaa Adel - 230105740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FAEF3CEC-838E-B44B-920B-E21004E5C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>
            <a:extLst>
              <a:ext uri="{FF2B5EF4-FFF2-40B4-BE49-F238E27FC236}">
                <a16:creationId xmlns:a16="http://schemas.microsoft.com/office/drawing/2014/main" id="{FE07521A-D633-FE7D-5DBE-7EBFA7CB1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AF5409EF-493A-0791-8FD9-5A5A20EF3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Introduction</a:t>
            </a:r>
          </a:p>
          <a:p>
            <a:pPr lvl="0"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Problem Statement</a:t>
            </a:r>
          </a:p>
          <a:p>
            <a:pPr lvl="0"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Project Idea</a:t>
            </a:r>
          </a:p>
          <a:p>
            <a:pPr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Similar Systems</a:t>
            </a:r>
          </a:p>
          <a:p>
            <a:pPr lvl="0"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Motivation</a:t>
            </a:r>
          </a:p>
          <a:p>
            <a:pPr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SDGs Achieved</a:t>
            </a:r>
          </a:p>
          <a:p>
            <a:pPr lvl="0"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System Mechanical Design</a:t>
            </a:r>
          </a:p>
          <a:p>
            <a:pPr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Strategic Installation Location</a:t>
            </a:r>
            <a:endParaRPr lang="ar-EG" dirty="0">
              <a:latin typeface="Raleway"/>
              <a:ea typeface="Raleway"/>
              <a:cs typeface="Raleway"/>
              <a:sym typeface="Raleway"/>
            </a:endParaRPr>
          </a:p>
          <a:p>
            <a:pPr lvl="0">
              <a:buFont typeface="Raleway"/>
              <a:buChar char="●"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Prototype Demo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217496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F6C5CCEB-6C9D-E396-A1F5-317EEA5C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>
            <a:extLst>
              <a:ext uri="{FF2B5EF4-FFF2-40B4-BE49-F238E27FC236}">
                <a16:creationId xmlns:a16="http://schemas.microsoft.com/office/drawing/2014/main" id="{EEB9CE61-1CEA-8193-2189-BDC51DBCA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/>
              <a:t>Project Overview &amp; Objectives</a:t>
            </a:r>
          </a:p>
        </p:txBody>
      </p:sp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A6F6CB82-D4B4-1E8C-2DFA-A00D548056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Goal:</a:t>
            </a:r>
            <a:r>
              <a:rPr lang="en-US" dirty="0"/>
              <a:t> Automatically detect cars and remove backgrounds while keeping fine details.</a:t>
            </a:r>
          </a:p>
          <a:p>
            <a:r>
              <a:rPr lang="en-US" b="1" dirty="0"/>
              <a:t>Why it matters:</a:t>
            </a:r>
            <a:r>
              <a:rPr lang="en-US" dirty="0"/>
              <a:t> Useful for e-commerce, ads, automotive design, and insurance.</a:t>
            </a:r>
          </a:p>
          <a:p>
            <a:r>
              <a:rPr lang="en-US" b="1" dirty="0"/>
              <a:t>Main Objectives:</a:t>
            </a:r>
            <a:endParaRPr lang="en-US" dirty="0"/>
          </a:p>
          <a:p>
            <a:pPr lvl="1"/>
            <a:r>
              <a:rPr lang="en-US" dirty="0"/>
              <a:t>Accurately segment cars from complex backgrounds.</a:t>
            </a:r>
          </a:p>
          <a:p>
            <a:pPr lvl="1"/>
            <a:r>
              <a:rPr lang="en-US" dirty="0"/>
              <a:t>Compare Classical (</a:t>
            </a:r>
            <a:r>
              <a:rPr lang="en-US" dirty="0" err="1"/>
              <a:t>GrabCut</a:t>
            </a:r>
            <a:r>
              <a:rPr lang="en-US" dirty="0"/>
              <a:t>) vs. Deep Learning (U-Net).</a:t>
            </a:r>
          </a:p>
          <a:p>
            <a:pPr lvl="1"/>
            <a:r>
              <a:rPr lang="en-US" dirty="0"/>
              <a:t>Achieve high accuracy and export clean transparent images.</a:t>
            </a:r>
          </a:p>
          <a:p>
            <a:pPr lvl="1"/>
            <a:r>
              <a:rPr lang="en-US" dirty="0"/>
              <a:t>Build the model from scratch and train it on GPU.</a:t>
            </a:r>
          </a:p>
        </p:txBody>
      </p:sp>
      <p:sp>
        <p:nvSpPr>
          <p:cNvPr id="93" name="Google Shape;93;p17">
            <a:extLst>
              <a:ext uri="{FF2B5EF4-FFF2-40B4-BE49-F238E27FC236}">
                <a16:creationId xmlns:a16="http://schemas.microsoft.com/office/drawing/2014/main" id="{11BF6991-AEB3-2C47-45E6-F44AA19D74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4</a:t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4278656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/>
              <a:t>Dataset &amp; Preprocessing</a:t>
            </a:r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Dataset:</a:t>
            </a:r>
            <a:r>
              <a:rPr lang="en-US" dirty="0"/>
              <a:t> 4,165 real-world car images (3,352 train, 813 test)</a:t>
            </a:r>
          </a:p>
          <a:p>
            <a:r>
              <a:rPr lang="en-US" b="1" dirty="0"/>
              <a:t>Source:</a:t>
            </a:r>
            <a:r>
              <a:rPr lang="en-US" dirty="0"/>
              <a:t> Real images with different angles, lighting, and backgrounds.</a:t>
            </a:r>
          </a:p>
          <a:p>
            <a:r>
              <a:rPr lang="en-US" b="1" dirty="0"/>
              <a:t>Preprocessing:</a:t>
            </a:r>
            <a:endParaRPr lang="en-US" dirty="0"/>
          </a:p>
          <a:p>
            <a:pPr lvl="1"/>
            <a:r>
              <a:rPr lang="en-US" dirty="0"/>
              <a:t>Resized to 256×256 for faster training.</a:t>
            </a:r>
          </a:p>
          <a:p>
            <a:pPr lvl="1"/>
            <a:r>
              <a:rPr lang="en-US" dirty="0"/>
              <a:t>Normalized pixel values for better learning.</a:t>
            </a:r>
          </a:p>
          <a:p>
            <a:pPr lvl="1"/>
            <a:r>
              <a:rPr lang="en-US" dirty="0"/>
              <a:t>Split: 70% Train, 15% Validation, 15% Test.</a:t>
            </a:r>
          </a:p>
          <a:p>
            <a:pPr lvl="1"/>
            <a:r>
              <a:rPr lang="en-US" dirty="0"/>
              <a:t>No built-in datasets used (follows project guidelines).</a:t>
            </a:r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5</a:t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/>
              <a:t>Methodology 2 – Deep Learning (U-Net)</a:t>
            </a:r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Why U-Net?</a:t>
            </a:r>
            <a:r>
              <a:rPr lang="en-US" dirty="0"/>
              <a:t> Designed specifically for precise image segmentation.</a:t>
            </a:r>
          </a:p>
          <a:p>
            <a:r>
              <a:rPr lang="en-US" b="1" dirty="0"/>
              <a:t>Built from scratch:</a:t>
            </a:r>
            <a:r>
              <a:rPr lang="en-US" dirty="0"/>
              <a:t> Encoder-Decoder architecture with skip connections.</a:t>
            </a:r>
          </a:p>
          <a:p>
            <a:r>
              <a:rPr lang="en-US" b="1" dirty="0"/>
              <a:t>Why skip connections?</a:t>
            </a:r>
            <a:r>
              <a:rPr lang="en-US" dirty="0"/>
              <a:t> Preserve fine details like car edges, windows, and wheels.</a:t>
            </a:r>
          </a:p>
          <a:p>
            <a:r>
              <a:rPr lang="en-US" b="1" dirty="0"/>
              <a:t>Training:</a:t>
            </a:r>
            <a:r>
              <a:rPr lang="en-US" dirty="0"/>
              <a:t> </a:t>
            </a:r>
            <a:r>
              <a:rPr lang="en-US" dirty="0" err="1"/>
              <a:t>PyTorch</a:t>
            </a:r>
            <a:r>
              <a:rPr lang="en-US" dirty="0"/>
              <a:t>, GPU, Mixed Precision (FP16) for faster training &amp; less memory.</a:t>
            </a:r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/>
              <a:t>Project Motivation (Scientific Perspective)</a:t>
            </a:r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Energy Harvesting Efficiency:</a:t>
            </a:r>
            <a:r>
              <a:rPr lang="en-US" dirty="0"/>
              <a:t> Capturing wasted mechanical energy via piezoelectric tech.</a:t>
            </a:r>
          </a:p>
          <a:p>
            <a:r>
              <a:rPr lang="en-US" b="1" dirty="0"/>
              <a:t>Sustainable Engineering:</a:t>
            </a:r>
            <a:r>
              <a:rPr lang="en-US" dirty="0"/>
              <a:t> Reducing reliance on fossil fuels in educational institutions.</a:t>
            </a:r>
          </a:p>
          <a:p>
            <a:r>
              <a:rPr lang="en-US" b="1" dirty="0"/>
              <a:t>Research Gap:</a:t>
            </a:r>
            <a:r>
              <a:rPr lang="en-US" dirty="0"/>
              <a:t> Lack of low-cost, locally maintainable kinetic solutions.</a:t>
            </a:r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C234E26-FE68-4463-89BC-9114714E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>
            <a:extLst>
              <a:ext uri="{FF2B5EF4-FFF2-40B4-BE49-F238E27FC236}">
                <a16:creationId xmlns:a16="http://schemas.microsoft.com/office/drawing/2014/main" id="{C649A717-0E3D-D463-FD2E-9662331EED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/>
              <a:t>U-Net Architecture</a:t>
            </a:r>
          </a:p>
        </p:txBody>
      </p:sp>
      <p:sp>
        <p:nvSpPr>
          <p:cNvPr id="111" name="Google Shape;111;p20">
            <a:extLst>
              <a:ext uri="{FF2B5EF4-FFF2-40B4-BE49-F238E27FC236}">
                <a16:creationId xmlns:a16="http://schemas.microsoft.com/office/drawing/2014/main" id="{1F64A478-04D5-66FD-D692-36590C3E32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Encoder:</a:t>
            </a:r>
            <a:r>
              <a:rPr lang="en-US" dirty="0"/>
              <a:t> Extracts features, reduces image size.</a:t>
            </a:r>
          </a:p>
          <a:p>
            <a:r>
              <a:rPr lang="en-US" b="1" dirty="0"/>
              <a:t>Bottleneck:</a:t>
            </a:r>
            <a:r>
              <a:rPr lang="en-US" dirty="0"/>
              <a:t> Learns high-level patterns.</a:t>
            </a:r>
          </a:p>
          <a:p>
            <a:r>
              <a:rPr lang="en-US" b="1" dirty="0"/>
              <a:t>Decoder:</a:t>
            </a:r>
            <a:r>
              <a:rPr lang="en-US" dirty="0"/>
              <a:t> Reconstructs the mask, restores details.</a:t>
            </a:r>
          </a:p>
          <a:p>
            <a:r>
              <a:rPr lang="en-US" b="1" dirty="0"/>
              <a:t>Skip Connections:</a:t>
            </a:r>
            <a:r>
              <a:rPr lang="en-US" dirty="0"/>
              <a:t> Connect encoder to decoder to keep sharp edges.</a:t>
            </a:r>
          </a:p>
          <a:p>
            <a:r>
              <a:rPr lang="en-US" b="1" dirty="0"/>
              <a:t>Total Parameters:</a:t>
            </a:r>
            <a:r>
              <a:rPr lang="en-US" dirty="0"/>
              <a:t> ~31 Million</a:t>
            </a:r>
          </a:p>
        </p:txBody>
      </p:sp>
      <p:sp>
        <p:nvSpPr>
          <p:cNvPr id="112" name="Google Shape;112;p20">
            <a:extLst>
              <a:ext uri="{FF2B5EF4-FFF2-40B4-BE49-F238E27FC236}">
                <a16:creationId xmlns:a16="http://schemas.microsoft.com/office/drawing/2014/main" id="{8A778365-E5F1-D62E-28A2-E233044669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627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0650100-2849-C7C6-E104-E11BD64B4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>
            <a:extLst>
              <a:ext uri="{FF2B5EF4-FFF2-40B4-BE49-F238E27FC236}">
                <a16:creationId xmlns:a16="http://schemas.microsoft.com/office/drawing/2014/main" id="{2D0646FA-4206-C924-22FB-23D04DD45F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/>
              <a:t>Training Process &amp; Hyperparameters</a:t>
            </a:r>
          </a:p>
        </p:txBody>
      </p:sp>
      <p:sp>
        <p:nvSpPr>
          <p:cNvPr id="111" name="Google Shape;111;p20">
            <a:extLst>
              <a:ext uri="{FF2B5EF4-FFF2-40B4-BE49-F238E27FC236}">
                <a16:creationId xmlns:a16="http://schemas.microsoft.com/office/drawing/2014/main" id="{566B4D48-F2AB-25FB-BCF7-BD0E5AC24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Loss Function:</a:t>
            </a:r>
            <a:r>
              <a:rPr lang="en-US" dirty="0"/>
              <a:t> Dice + BCE (Balances shape &amp; pixel accuracy)</a:t>
            </a:r>
          </a:p>
          <a:p>
            <a:r>
              <a:rPr lang="en-US" b="1" dirty="0"/>
              <a:t>Optimizer:</a:t>
            </a:r>
            <a:r>
              <a:rPr lang="en-US" dirty="0"/>
              <a:t> Adam with weight decay</a:t>
            </a:r>
          </a:p>
          <a:p>
            <a:r>
              <a:rPr lang="en-US" b="1" dirty="0"/>
              <a:t>Learning Rate:</a:t>
            </a:r>
            <a:r>
              <a:rPr lang="en-US" dirty="0"/>
              <a:t> Adaptive (reduces when loss stops improving)</a:t>
            </a:r>
          </a:p>
          <a:p>
            <a:r>
              <a:rPr lang="en-US" b="1" dirty="0"/>
              <a:t>Batch Size:</a:t>
            </a:r>
            <a:r>
              <a:rPr lang="en-US" dirty="0"/>
              <a:t> Optimized for GPU memory</a:t>
            </a:r>
          </a:p>
          <a:p>
            <a:r>
              <a:rPr lang="en-US" b="1" dirty="0"/>
              <a:t>Mixed Precision (FP16):</a:t>
            </a:r>
            <a:r>
              <a:rPr lang="en-US" dirty="0"/>
              <a:t> Faster training, less GPU memory usage</a:t>
            </a:r>
          </a:p>
        </p:txBody>
      </p:sp>
      <p:sp>
        <p:nvSpPr>
          <p:cNvPr id="112" name="Google Shape;112;p20">
            <a:extLst>
              <a:ext uri="{FF2B5EF4-FFF2-40B4-BE49-F238E27FC236}">
                <a16:creationId xmlns:a16="http://schemas.microsoft.com/office/drawing/2014/main" id="{516ABB15-ABDD-6688-DE9C-B97B352F5F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5192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C7B4E70-1467-5E28-F281-28168C51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>
            <a:extLst>
              <a:ext uri="{FF2B5EF4-FFF2-40B4-BE49-F238E27FC236}">
                <a16:creationId xmlns:a16="http://schemas.microsoft.com/office/drawing/2014/main" id="{BF395C6E-34DF-F013-7149-248BBF31DF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/>
              <a:t>Results &amp; Evaluation Metrics</a:t>
            </a:r>
          </a:p>
        </p:txBody>
      </p:sp>
      <p:sp>
        <p:nvSpPr>
          <p:cNvPr id="111" name="Google Shape;111;p20">
            <a:extLst>
              <a:ext uri="{FF2B5EF4-FFF2-40B4-BE49-F238E27FC236}">
                <a16:creationId xmlns:a16="http://schemas.microsoft.com/office/drawing/2014/main" id="{C8644843-759A-6A5A-66AC-F07DE02BA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Dice Score:</a:t>
            </a:r>
            <a:r>
              <a:rPr lang="en-US" dirty="0"/>
              <a:t> 87.54%</a:t>
            </a:r>
          </a:p>
          <a:p>
            <a:r>
              <a:rPr lang="en-US" b="1" dirty="0" err="1"/>
              <a:t>IoU</a:t>
            </a:r>
            <a:r>
              <a:rPr lang="en-US" b="1" dirty="0"/>
              <a:t> (Intersection over Union):</a:t>
            </a:r>
            <a:r>
              <a:rPr lang="en-US" dirty="0"/>
              <a:t> 78.13%</a:t>
            </a:r>
          </a:p>
          <a:p>
            <a:r>
              <a:rPr lang="en-US" b="1" dirty="0"/>
              <a:t>What they mean:</a:t>
            </a:r>
            <a:endParaRPr lang="en-US" dirty="0"/>
          </a:p>
          <a:p>
            <a:pPr lvl="1"/>
            <a:r>
              <a:rPr lang="en-US" b="1" dirty="0"/>
              <a:t>Dice:</a:t>
            </a:r>
            <a:r>
              <a:rPr lang="en-US" dirty="0"/>
              <a:t> How well the predicted mask matches the real mask.</a:t>
            </a:r>
          </a:p>
          <a:p>
            <a:pPr lvl="1"/>
            <a:r>
              <a:rPr lang="en-US" b="1" dirty="0" err="1"/>
              <a:t>IoU</a:t>
            </a:r>
            <a:r>
              <a:rPr lang="en-US" b="1" dirty="0"/>
              <a:t>:</a:t>
            </a:r>
            <a:r>
              <a:rPr lang="en-US" dirty="0"/>
              <a:t> Overlap ratio between prediction and ground truth.</a:t>
            </a:r>
          </a:p>
          <a:p>
            <a:r>
              <a:rPr lang="en-US" b="1" dirty="0"/>
              <a:t>Visual Results:</a:t>
            </a:r>
            <a:r>
              <a:rPr lang="en-US" dirty="0"/>
              <a:t> Clean edges, handles shadows &amp; complex backgrounds well.</a:t>
            </a:r>
          </a:p>
          <a:p>
            <a:r>
              <a:rPr lang="en-US" b="1" dirty="0"/>
              <a:t>Export:</a:t>
            </a:r>
            <a:r>
              <a:rPr lang="en-US" dirty="0"/>
              <a:t> Outputs clean PNGs with transparent backgrounds.</a:t>
            </a:r>
          </a:p>
        </p:txBody>
      </p:sp>
      <p:sp>
        <p:nvSpPr>
          <p:cNvPr id="112" name="Google Shape;112;p20">
            <a:extLst>
              <a:ext uri="{FF2B5EF4-FFF2-40B4-BE49-F238E27FC236}">
                <a16:creationId xmlns:a16="http://schemas.microsoft.com/office/drawing/2014/main" id="{E15420AA-9706-AE30-8324-9787C44EA0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624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A165C80-FE4E-A14E-FC3B-8964E7EB1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>
            <a:extLst>
              <a:ext uri="{FF2B5EF4-FFF2-40B4-BE49-F238E27FC236}">
                <a16:creationId xmlns:a16="http://schemas.microsoft.com/office/drawing/2014/main" id="{B3274CAD-4C88-8D88-F02E-AC64A22CE4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 err="1"/>
              <a:t>GrabCut</a:t>
            </a:r>
            <a:r>
              <a:rPr lang="en-US" b="1" dirty="0"/>
              <a:t> vs. U-Net Comparison</a:t>
            </a:r>
          </a:p>
        </p:txBody>
      </p:sp>
      <p:sp>
        <p:nvSpPr>
          <p:cNvPr id="112" name="Google Shape;112;p20">
            <a:extLst>
              <a:ext uri="{FF2B5EF4-FFF2-40B4-BE49-F238E27FC236}">
                <a16:creationId xmlns:a16="http://schemas.microsoft.com/office/drawing/2014/main" id="{E3F4208A-72A2-0A1A-D32D-CC80E2E99B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11</a:t>
            </a:fld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58C7E9-3D1D-BEB9-1F39-C55CADBBD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243236"/>
              </p:ext>
            </p:extLst>
          </p:nvPr>
        </p:nvGraphicFramePr>
        <p:xfrm>
          <a:off x="1226634" y="145923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630069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927534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0269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GrabCut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U-Net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40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Speed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Fast (CPU)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Fast (GPU)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81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Accuracy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~60-70%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87.54% Dice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693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Complex BG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Struggles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Handles well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79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Setup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No training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Requires training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250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Best For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Quick edits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Professional use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0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33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18EB3B5-2BDB-F5FC-7B0F-8C152BDF7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>
            <a:extLst>
              <a:ext uri="{FF2B5EF4-FFF2-40B4-BE49-F238E27FC236}">
                <a16:creationId xmlns:a16="http://schemas.microsoft.com/office/drawing/2014/main" id="{42088FF5-8909-2956-F49F-3BD725CB5F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/>
              <a:t>Real-World Applications &amp; Future Work</a:t>
            </a:r>
          </a:p>
        </p:txBody>
      </p:sp>
      <p:sp>
        <p:nvSpPr>
          <p:cNvPr id="111" name="Google Shape;111;p20">
            <a:extLst>
              <a:ext uri="{FF2B5EF4-FFF2-40B4-BE49-F238E27FC236}">
                <a16:creationId xmlns:a16="http://schemas.microsoft.com/office/drawing/2014/main" id="{17F9E2C4-3EF0-A3A8-99C8-443C8973E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Applications:</a:t>
            </a:r>
            <a:endParaRPr lang="en-US" dirty="0"/>
          </a:p>
          <a:p>
            <a:pPr lvl="1"/>
            <a:r>
              <a:rPr lang="en-US" dirty="0"/>
              <a:t>E-commerce &amp; car listings</a:t>
            </a:r>
          </a:p>
          <a:p>
            <a:pPr lvl="1"/>
            <a:r>
              <a:rPr lang="en-US" dirty="0"/>
              <a:t>Automotive marketing &amp; AR</a:t>
            </a:r>
          </a:p>
          <a:p>
            <a:pPr lvl="1"/>
            <a:r>
              <a:rPr lang="en-US" dirty="0"/>
              <a:t>Insurance &amp; damage assessment</a:t>
            </a:r>
          </a:p>
          <a:p>
            <a:r>
              <a:rPr lang="en-US" b="1" dirty="0"/>
              <a:t>Future Work:</a:t>
            </a:r>
            <a:endParaRPr lang="en-US" dirty="0"/>
          </a:p>
          <a:p>
            <a:pPr lvl="1"/>
            <a:r>
              <a:rPr lang="en-US" dirty="0"/>
              <a:t>Add video background removal</a:t>
            </a:r>
          </a:p>
          <a:p>
            <a:pPr lvl="1"/>
            <a:r>
              <a:rPr lang="en-US" dirty="0"/>
              <a:t>Improve glass &amp; reflection handling</a:t>
            </a:r>
          </a:p>
          <a:p>
            <a:pPr lvl="1"/>
            <a:r>
              <a:rPr lang="en-US" dirty="0"/>
              <a:t>Deploy as a simple web app or API</a:t>
            </a:r>
          </a:p>
        </p:txBody>
      </p:sp>
      <p:sp>
        <p:nvSpPr>
          <p:cNvPr id="112" name="Google Shape;112;p20">
            <a:extLst>
              <a:ext uri="{FF2B5EF4-FFF2-40B4-BE49-F238E27FC236}">
                <a16:creationId xmlns:a16="http://schemas.microsoft.com/office/drawing/2014/main" id="{683EB235-5358-5CA8-541E-4F3FFE981F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- </a:t>
            </a: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72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97700ED1-38AC-75E9-388F-8A6D00EA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8411FD7B-E8BD-BA5C-6072-65D7756F5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237171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564</Words>
  <Application>Microsoft Office PowerPoint</Application>
  <PresentationFormat>On-screen Show (16:9)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Raleway Light</vt:lpstr>
      <vt:lpstr>Raleway SemiBold</vt:lpstr>
      <vt:lpstr>Nunito</vt:lpstr>
      <vt:lpstr>Raleway</vt:lpstr>
      <vt:lpstr>Simple Light</vt:lpstr>
      <vt:lpstr>Car Background Removal</vt:lpstr>
      <vt:lpstr>Table of Contents</vt:lpstr>
      <vt:lpstr>Introduction</vt:lpstr>
      <vt:lpstr>Project Overview &amp; Objectives</vt:lpstr>
      <vt:lpstr>Dataset &amp; Preprocessing</vt:lpstr>
      <vt:lpstr>Methodology 2 – Deep Learning (U-Net)</vt:lpstr>
      <vt:lpstr>Project Motivation (Scientific Perspective)</vt:lpstr>
      <vt:lpstr>U-Net Architecture</vt:lpstr>
      <vt:lpstr>Training Process &amp; Hyperparameters</vt:lpstr>
      <vt:lpstr>Results &amp; Evaluation Metrics</vt:lpstr>
      <vt:lpstr>GrabCut vs. U-Net Comparison</vt:lpstr>
      <vt:lpstr>Real-World Applications &amp; Future Work</vt:lpstr>
      <vt:lpstr>Any Questions?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Project#1: Project Title</dc:title>
  <dc:creator>Andrew Labib</dc:creator>
  <cp:lastModifiedBy>احمد حمدي</cp:lastModifiedBy>
  <cp:revision>8</cp:revision>
  <dcterms:modified xsi:type="dcterms:W3CDTF">2026-05-12T22:19:37Z</dcterms:modified>
</cp:coreProperties>
</file>