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69" r:id="rId15"/>
  </p:sldIdLst>
  <p:sldSz cx="9144000" cy="5143500" type="screen16x9"/>
  <p:notesSz cx="5143500" cy="9144000"/>
  <p:embeddedFontLst>
    <p:embeddedFont>
      <p:font typeface="Cabin" panose="020B0604020202020204" charset="0"/>
      <p:regular r:id="rId17"/>
    </p:embeddedFont>
    <p:embeddedFont>
      <p:font typeface="Unbounde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18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882997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 Background Removal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577" y="1987376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car segmentation using Classical and Deep Learning approaches — from complex scenes to clean, transparent outputs.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577" y="2671762"/>
            <a:ext cx="4667845" cy="11162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3577" y="303810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Supervised By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3407643"/>
            <a:ext cx="21514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Hind Adel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44726" y="303810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44726" y="3407643"/>
            <a:ext cx="21514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Ahmed Hamdy · 230103760</a:t>
            </a:r>
            <a:endParaRPr lang="en-US" sz="11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Abdo Fouda · 230104495</a:t>
            </a:r>
            <a:endParaRPr lang="en-US" sz="1150" dirty="0"/>
          </a:p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Alaa Adel · 230105740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88281"/>
            <a:ext cx="372606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Table of Contents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27510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862733"/>
            <a:ext cx="2599209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3577" y="1975619"/>
            <a:ext cx="25992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Overview &amp; 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505298"/>
            <a:ext cx="259920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Goals, use cases, and core objectives of the 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72358" y="1627510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1862733"/>
            <a:ext cx="2599209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72358" y="1975619"/>
            <a:ext cx="25992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&amp; Preprocessing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358" y="2505298"/>
            <a:ext cx="259920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sourcing, augmentation, and split strategy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21139" y="1627510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21139" y="1862733"/>
            <a:ext cx="2599283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21139" y="1975619"/>
            <a:ext cx="259928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Methodology — Deep Learning (U-Net)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1139" y="2505298"/>
            <a:ext cx="259928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Architecture design and training strategy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577" y="3245793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577" y="3481015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577" y="3593902"/>
            <a:ext cx="303282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U-Net Architecture &amp; Training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3577" y="3903613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Encoder-decoder structure, hyperparameters, and optimization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6786" y="3245793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46786" y="3481015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6786" y="3593902"/>
            <a:ext cx="213285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Results &amp; Evaluation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6786" y="3903613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Dice score, IoU metrics, and visual output quality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577" y="1130871"/>
            <a:ext cx="1040309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13321" y="1175742"/>
            <a:ext cx="86082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577" y="147183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Car Background Removal?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523577" y="2576215"/>
            <a:ext cx="4667845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computer vision, isolating a vehicle from its background is a deceptively complex challenge — varying lighting, partial occlusions, reflective surfaces, and intricate edges all conspire against clean segmentation. This project tackles that challenge head-on, comparing classical and deep learning methods to produce pixel-accurate, production-ready transparent car images.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796" y="359346"/>
            <a:ext cx="901154" cy="182240"/>
          </a:xfrm>
          <a:prstGeom prst="roundRect">
            <a:avLst>
              <a:gd name="adj" fmla="val 7065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6164" y="391492"/>
            <a:ext cx="772418" cy="117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41796" y="572319"/>
            <a:ext cx="4495726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Overview &amp; Objectives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96" y="1089868"/>
            <a:ext cx="2312789" cy="2312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298" y="1515814"/>
            <a:ext cx="126236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Goal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429298" y="1750516"/>
            <a:ext cx="5277594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detect and segment cars from complex real-world backgrounds, preserving fine structural details — edges, wheels, windows — and exporting clean transparent PNGs.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29298" y="2122140"/>
            <a:ext cx="126236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Objectives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29298" y="2356842"/>
            <a:ext cx="5277594" cy="6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Accurately segment cars across diverse backgrounds and lighting conditions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Benchmark </a:t>
            </a: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GrabCut (Classical)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vs. </a:t>
            </a: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U-Net (Deep Learning)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Achieve high Dice Score and IoU on a real-world dataset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and train the model from scratch on GPU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41796" y="3575745"/>
            <a:ext cx="4091732" cy="565696"/>
          </a:xfrm>
          <a:prstGeom prst="roundRect">
            <a:avLst>
              <a:gd name="adj" fmla="val 28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9027" y="3682975"/>
            <a:ext cx="126236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9027" y="3886870"/>
            <a:ext cx="387727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 product listings without manual editing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10472" y="3575745"/>
            <a:ext cx="4091732" cy="565696"/>
          </a:xfrm>
          <a:prstGeom prst="roundRect">
            <a:avLst>
              <a:gd name="adj" fmla="val 28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17703" y="3682975"/>
            <a:ext cx="126236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Advertising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17703" y="3886870"/>
            <a:ext cx="387727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Compositing cars into campaign visuals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41796" y="4218384"/>
            <a:ext cx="4091732" cy="565696"/>
          </a:xfrm>
          <a:prstGeom prst="roundRect">
            <a:avLst>
              <a:gd name="adj" fmla="val 28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9027" y="4325615"/>
            <a:ext cx="14362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Automotive Design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9027" y="4529510"/>
            <a:ext cx="387727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Rapid prototyping and visualization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10472" y="4218384"/>
            <a:ext cx="4091732" cy="565696"/>
          </a:xfrm>
          <a:prstGeom prst="roundRect">
            <a:avLst>
              <a:gd name="adj" fmla="val 28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17703" y="4325615"/>
            <a:ext cx="126236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Insurance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17703" y="4529510"/>
            <a:ext cx="387727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Isolated damage assessment from photos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28848"/>
            <a:ext cx="455935" cy="275258"/>
          </a:xfrm>
          <a:prstGeom prst="roundRect">
            <a:avLst>
              <a:gd name="adj" fmla="val 642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3721" y="472976"/>
            <a:ext cx="279276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5392" y="762074"/>
            <a:ext cx="5172521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5392" y="1486272"/>
            <a:ext cx="2583582" cy="485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4,165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40891" y="215458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Images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5392" y="2458045"/>
            <a:ext cx="258358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Real-world car photos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80172" y="1486272"/>
            <a:ext cx="2583582" cy="485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3,352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05671" y="215458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Set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80172" y="2458045"/>
            <a:ext cx="258358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~80% of dataset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44952" y="1486272"/>
            <a:ext cx="2583656" cy="485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813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70452" y="2154585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Set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4952" y="2458045"/>
            <a:ext cx="2583656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Held-out evaluation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5392" y="2909218"/>
            <a:ext cx="232313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Preprocessing Pipeline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5392" y="3343201"/>
            <a:ext cx="8113216" cy="1371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Resized all images to </a:t>
            </a: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256×256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consistent, faster training</a:t>
            </a:r>
            <a:endParaRPr lang="en-US" sz="11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Normalized pixel values to </a:t>
            </a: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[0, 1]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range for stable gradient flow</a:t>
            </a:r>
            <a:endParaRPr lang="en-US" sz="11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Split: </a:t>
            </a: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70% Train / 15% Validation / 15% Test</a:t>
            </a:r>
            <a:endParaRPr lang="en-US" sz="11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Diverse real images — varied angles, lighting, and backgrounds</a:t>
            </a:r>
            <a:endParaRPr lang="en-US" sz="11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pre-built datasets used, adhering to project guidelines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54447"/>
            <a:ext cx="938138" cy="239390"/>
          </a:xfrm>
          <a:prstGeom prst="roundRect">
            <a:avLst>
              <a:gd name="adj" fmla="val 6644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866" y="494184"/>
            <a:ext cx="779190" cy="1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5392" y="740792"/>
            <a:ext cx="6203231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Deep Learning Approach — U-Net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15392" y="1424136"/>
            <a:ext cx="155934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U-Net?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5392" y="1736527"/>
            <a:ext cx="2629346" cy="119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U-Net was specifically designed for precise image segmentation tasks. Its encoder-decoder structure with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skip connections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makes it uniquely suited to preserving fine structural details — critical for capturing car edges, windows, and wheels accurately.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5392" y="3053655"/>
            <a:ext cx="216358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5392" y="3366046"/>
            <a:ext cx="2629346" cy="128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entirely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scratch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 PyTorch — no pretrained weights</a:t>
            </a:r>
            <a:endParaRPr lang="en-US" sz="10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Trained on GPU with </a:t>
            </a: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Mixed Precision (FP16)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speed and memory efficiency</a:t>
            </a:r>
            <a:endParaRPr lang="en-US" sz="10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Skip connections bridge encoder and decoder to recover spatial detail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36" y="1969071"/>
            <a:ext cx="3466728" cy="205747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546" y="2471951"/>
            <a:ext cx="295114" cy="2951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32618" y="3554190"/>
            <a:ext cx="861733" cy="1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Decode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5152" y="2472505"/>
            <a:ext cx="295114" cy="2951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46598" y="3554190"/>
            <a:ext cx="861733" cy="1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Bottleneck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9133" y="2472505"/>
            <a:ext cx="295114" cy="2951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42872" y="3554190"/>
            <a:ext cx="861733" cy="1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Encode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3" y="355476"/>
            <a:ext cx="3324299" cy="44324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52577" y="487189"/>
            <a:ext cx="703436" cy="176733"/>
          </a:xfrm>
          <a:prstGeom prst="roundRect">
            <a:avLst>
              <a:gd name="adj" fmla="val 7111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15383" y="518592"/>
            <a:ext cx="577825" cy="1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3952577" y="693241"/>
            <a:ext cx="2753618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U-Net Architecture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952577" y="1111076"/>
            <a:ext cx="4667845" cy="720700"/>
          </a:xfrm>
          <a:prstGeom prst="roundRect">
            <a:avLst>
              <a:gd name="adj" fmla="val 218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966865" y="1125364"/>
            <a:ext cx="418877" cy="692125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97759" y="1373237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59039" y="1230064"/>
            <a:ext cx="12320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Encoder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59039" y="1428080"/>
            <a:ext cx="404239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Successive convolution blocks extract hierarchical features while progressively reducing spatial resolution via max pooling.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52577" y="1905074"/>
            <a:ext cx="4667845" cy="720700"/>
          </a:xfrm>
          <a:prstGeom prst="roundRect">
            <a:avLst>
              <a:gd name="adj" fmla="val 218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966865" y="1919362"/>
            <a:ext cx="418877" cy="692125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97759" y="2167235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59039" y="2024063"/>
            <a:ext cx="12320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Bottleneck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59039" y="2222078"/>
            <a:ext cx="404239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deepest layer captures the most abstract, high-level semantic patterns across the entire image.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952577" y="2699072"/>
            <a:ext cx="4667845" cy="720700"/>
          </a:xfrm>
          <a:prstGeom prst="roundRect">
            <a:avLst>
              <a:gd name="adj" fmla="val 218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966865" y="2713360"/>
            <a:ext cx="418877" cy="692125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097759" y="2961233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459039" y="2818061"/>
            <a:ext cx="1232074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Decoder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459039" y="3016076"/>
            <a:ext cx="404239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Transposed convolutions progressively upsample feature maps, reconstructing the full-resolution segmentation mask.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952577" y="3493071"/>
            <a:ext cx="4667845" cy="720700"/>
          </a:xfrm>
          <a:prstGeom prst="roundRect">
            <a:avLst>
              <a:gd name="adj" fmla="val 2180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966865" y="3507358"/>
            <a:ext cx="418877" cy="692125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097759" y="3755231"/>
            <a:ext cx="15708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459039" y="3612059"/>
            <a:ext cx="1283047" cy="154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Skip Connections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59039" y="3810074"/>
            <a:ext cx="4042395" cy="28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Concatenate encoder feature maps directly into the decoder, preserving fine-grained edge and texture information.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952577" y="4296221"/>
            <a:ext cx="4667845" cy="360015"/>
          </a:xfrm>
          <a:prstGeom prst="roundRect">
            <a:avLst>
              <a:gd name="adj" fmla="val 436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278" y="4440138"/>
            <a:ext cx="130894" cy="10470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292873" y="4395639"/>
            <a:ext cx="4222849" cy="142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~31 Million Parameters</a:t>
            </a:r>
            <a:r>
              <a:rPr lang="en-US" sz="8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trained end-to-end from random initialization on the full car dataset.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39936"/>
            <a:ext cx="584746" cy="222126"/>
          </a:xfrm>
          <a:prstGeom prst="roundRect">
            <a:avLst>
              <a:gd name="adj" fmla="val 6763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0476" y="477441"/>
            <a:ext cx="434578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15392" y="703957"/>
            <a:ext cx="6466284" cy="36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Process &amp; Hyperparameters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15392" y="1333872"/>
            <a:ext cx="1966243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Optimization 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5392" y="1622599"/>
            <a:ext cx="3903911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carefully tuned training configuration balances convergence speed, mask accuracy, and GPU efficiency throughout the training run.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9460" y="1333872"/>
            <a:ext cx="1802085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Hardware Efficiency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29460" y="1635696"/>
            <a:ext cx="1899568" cy="1754907"/>
          </a:xfrm>
          <a:prstGeom prst="roundRect">
            <a:avLst>
              <a:gd name="adj" fmla="val 107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54625" y="1760860"/>
            <a:ext cx="375493" cy="375493"/>
          </a:xfrm>
          <a:prstGeom prst="roundRect">
            <a:avLst>
              <a:gd name="adj" fmla="val 1521846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7837" y="1864072"/>
            <a:ext cx="168994" cy="16899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54625" y="2241054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GPU Training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54625" y="2529780"/>
            <a:ext cx="1649239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Batch size tuned to maximize GPU memory utilization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733729" y="1635696"/>
            <a:ext cx="1899642" cy="1754907"/>
          </a:xfrm>
          <a:prstGeom prst="roundRect">
            <a:avLst>
              <a:gd name="adj" fmla="val 107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58893" y="1760860"/>
            <a:ext cx="375493" cy="375493"/>
          </a:xfrm>
          <a:prstGeom prst="roundRect">
            <a:avLst>
              <a:gd name="adj" fmla="val 1521846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2105" y="1864072"/>
            <a:ext cx="168994" cy="168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893" y="2241054"/>
            <a:ext cx="1649313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Mixed Precision FP16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858893" y="2713806"/>
            <a:ext cx="1649313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Cuts memory footprint by ~50%, enabling larger batch sizes and faster throughput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15392" y="3626197"/>
            <a:ext cx="2634555" cy="1077367"/>
          </a:xfrm>
          <a:prstGeom prst="roundRect">
            <a:avLst>
              <a:gd name="adj" fmla="val 6366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1104" y="3626197"/>
            <a:ext cx="57150" cy="1077367"/>
          </a:xfrm>
          <a:prstGeom prst="roundRect">
            <a:avLst>
              <a:gd name="adj" fmla="val 32857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97706" y="3765649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97706" y="4012481"/>
            <a:ext cx="2312789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Dice + BCE Combined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Dice penalizes shape mismatch; Binary Cross-Entropy enforces pixel-level accuracy.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54648" y="3626197"/>
            <a:ext cx="2634630" cy="1077367"/>
          </a:xfrm>
          <a:prstGeom prst="roundRect">
            <a:avLst>
              <a:gd name="adj" fmla="val 6366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240360" y="3626197"/>
            <a:ext cx="57150" cy="1077367"/>
          </a:xfrm>
          <a:prstGeom prst="roundRect">
            <a:avLst>
              <a:gd name="adj" fmla="val 32857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436962" y="3765649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436962" y="4012481"/>
            <a:ext cx="2312863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Adam with Weight Decay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adaptive learning rates per parameter with regularization to prevent overfitting.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93978" y="3626197"/>
            <a:ext cx="2634630" cy="1077367"/>
          </a:xfrm>
          <a:prstGeom prst="roundRect">
            <a:avLst>
              <a:gd name="adj" fmla="val 6366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979691" y="3626197"/>
            <a:ext cx="57150" cy="1077367"/>
          </a:xfrm>
          <a:prstGeom prst="roundRect">
            <a:avLst>
              <a:gd name="adj" fmla="val 32857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176293" y="3765649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Learning Rate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176293" y="4012481"/>
            <a:ext cx="2312863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Adaptive Schedule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automatically reduces learning rate when validation loss plateaus.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48940"/>
            <a:ext cx="519633" cy="205308"/>
          </a:xfrm>
          <a:prstGeom prst="roundRect">
            <a:avLst>
              <a:gd name="adj" fmla="val 68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6011" y="484212"/>
            <a:ext cx="378396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392" y="691307"/>
            <a:ext cx="471100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Results &amp; Evaluation Metrics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790105" y="1942654"/>
            <a:ext cx="1449139" cy="2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87.54%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82" y="1206326"/>
            <a:ext cx="1767260" cy="17672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1656" y="3095699"/>
            <a:ext cx="13861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Dice Score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5392" y="3324597"/>
            <a:ext cx="3998640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Measures overlap between predicted and ground-truth masks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04681" y="1942654"/>
            <a:ext cx="1449139" cy="2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78.13%</a:t>
            </a:r>
            <a:endParaRPr lang="en-US" sz="2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659" y="1206326"/>
            <a:ext cx="1767260" cy="17672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36233" y="3095699"/>
            <a:ext cx="13861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IoU Score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629969" y="3324597"/>
            <a:ext cx="3998640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Intersection over Union — strict overlap ratio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15392" y="3690045"/>
            <a:ext cx="218993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These Metrics Mean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5392" y="3956000"/>
            <a:ext cx="3912915" cy="706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Dice Score: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Harmonic mean of precision and recall — how well the predicted mask aligns with the ground truth</a:t>
            </a:r>
            <a:endParaRPr lang="en-US" sz="9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IoU: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Ratio of the intersection to the union of prediction and label — the standard segmentation benchmark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720456" y="3690045"/>
            <a:ext cx="13861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 Quality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20456" y="3956000"/>
            <a:ext cx="3912915" cy="570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Clean, sharp edges along vehicle contours</a:t>
            </a:r>
            <a:endParaRPr lang="en-US" sz="9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Robust handling of shadows and reflective surfaces</a:t>
            </a:r>
            <a:endParaRPr lang="en-US" sz="9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Exports as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transparent PNG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production-ready output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392" y="410394"/>
            <a:ext cx="8113216" cy="866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GrabCut vs. U-Net: Choosing the Right Segmentation Method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5392" y="1566639"/>
            <a:ext cx="8113216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side-by-side comparison of two leading image segmentation approaches — evaluated for speed, accuracy, and production readiness.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15392" y="2197150"/>
            <a:ext cx="8113216" cy="2535882"/>
          </a:xfrm>
          <a:prstGeom prst="roundRect">
            <a:avLst>
              <a:gd name="adj" fmla="val 87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8387" y="2293590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71404" y="2293590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GrabCut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72039" y="2293590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U-Net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8387" y="2715444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71404" y="2715444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 (CPU)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72039" y="2715444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 (GPU)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8387" y="3137297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71404" y="3137297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~60–70%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72039" y="3137297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87.54% Dice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8387" y="3559150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Complex Backgrounds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71404" y="3559150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Struggles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72039" y="3559150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Handles well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8387" y="3981004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Setup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71404" y="3981004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training required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72039" y="3981004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Requires training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8387" y="4402857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Best For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71404" y="4402857"/>
            <a:ext cx="2401342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Quick edits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72039" y="4402857"/>
            <a:ext cx="240372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Professional use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9592"/>
            <a:ext cx="6865069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Real-World Applications &amp; Future Work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3577" y="1073721"/>
            <a:ext cx="2509986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Where It's Being Used Today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382316"/>
            <a:ext cx="3893344" cy="954212"/>
          </a:xfrm>
          <a:prstGeom prst="roundRect">
            <a:avLst>
              <a:gd name="adj" fmla="val 718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9290" y="1382316"/>
            <a:ext cx="57150" cy="954212"/>
          </a:xfrm>
          <a:prstGeom prst="roundRect">
            <a:avLst>
              <a:gd name="adj" fmla="val 3337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7827" y="1523702"/>
            <a:ext cx="24328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E-Commerce &amp; Car Listings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7827" y="1818754"/>
            <a:ext cx="3567708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 background removal boosts product imagery quality and conversion rates.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3577" y="2444576"/>
            <a:ext cx="3893344" cy="954212"/>
          </a:xfrm>
          <a:prstGeom prst="roundRect">
            <a:avLst>
              <a:gd name="adj" fmla="val 718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9290" y="2444576"/>
            <a:ext cx="57150" cy="954212"/>
          </a:xfrm>
          <a:prstGeom prst="roundRect">
            <a:avLst>
              <a:gd name="adj" fmla="val 3337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7827" y="2585963"/>
            <a:ext cx="2466752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Automotive Marketing &amp; 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7827" y="2881015"/>
            <a:ext cx="3567708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Precise vehicle segmentation enables immersive augmented reality experiences.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577" y="3506837"/>
            <a:ext cx="3893344" cy="954212"/>
          </a:xfrm>
          <a:prstGeom prst="roundRect">
            <a:avLst>
              <a:gd name="adj" fmla="val 7187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9290" y="3506837"/>
            <a:ext cx="57150" cy="954212"/>
          </a:xfrm>
          <a:prstGeom prst="roundRect">
            <a:avLst>
              <a:gd name="adj" fmla="val 3337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7827" y="3648224"/>
            <a:ext cx="300870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Insurance &amp; Damage Assessment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7827" y="3943276"/>
            <a:ext cx="3567708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segmentation accelerates claims processing and damage evaluation.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1841" y="1073721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31841" y="1382316"/>
            <a:ext cx="25427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1841" y="1584127"/>
            <a:ext cx="3893344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1841" y="1676251"/>
            <a:ext cx="245060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Video Background Removal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1841" y="1971303"/>
            <a:ext cx="3893344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Extend segmentation to temporal sequences for real-time video workflows.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1841" y="2551063"/>
            <a:ext cx="25427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1841" y="2752874"/>
            <a:ext cx="3893344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1841" y="2844998"/>
            <a:ext cx="2444651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Glass &amp; Reflection Handling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31841" y="3140050"/>
            <a:ext cx="3893344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 robustness on transparent and reflective surfaces — a known edge case.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1841" y="3719810"/>
            <a:ext cx="25427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1841" y="3921621"/>
            <a:ext cx="3893344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1841" y="4013746"/>
            <a:ext cx="2495178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Web App or API Deployment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31841" y="4308797"/>
            <a:ext cx="3893344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Package the model into an accessible endpoint for seamless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42032"/>
            <a:ext cx="922809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13321" y="586904"/>
            <a:ext cx="74332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82997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23577" y="1547366"/>
            <a:ext cx="2599209" cy="1566416"/>
          </a:xfrm>
          <a:prstGeom prst="roundRect">
            <a:avLst>
              <a:gd name="adj" fmla="val 143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3150" y="1696938"/>
            <a:ext cx="208761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Deep Learning Wins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3150" y="2006650"/>
            <a:ext cx="23000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U-Net significantly outperforms classical GrabCut in handling real-world complexity and fine detail preservation.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1547366"/>
            <a:ext cx="2599209" cy="1566416"/>
          </a:xfrm>
          <a:prstGeom prst="roundRect">
            <a:avLst>
              <a:gd name="adj" fmla="val 143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1931" y="169693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Strong Metrics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1931" y="2006650"/>
            <a:ext cx="23000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87.54% Dice / 78.13% IoU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achieved from scratch — no pretrained models or external datasets.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1139" y="1547366"/>
            <a:ext cx="2599283" cy="1566416"/>
          </a:xfrm>
          <a:prstGeom prst="roundRect">
            <a:avLst>
              <a:gd name="adj" fmla="val 1433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0712" y="1696938"/>
            <a:ext cx="187285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 Ready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0712" y="2006650"/>
            <a:ext cx="230013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 transparent PNG exports suitable for e-commerce, advertising, and automotive pipelines.</a:t>
            </a:r>
            <a:endParaRPr lang="en-US" sz="11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F2C394-7201-77C6-0F51-274E8ACB1A9F}"/>
              </a:ext>
            </a:extLst>
          </p:cNvPr>
          <p:cNvGrpSpPr/>
          <p:nvPr/>
        </p:nvGrpSpPr>
        <p:grpSpPr>
          <a:xfrm>
            <a:off x="523539" y="3400139"/>
            <a:ext cx="8096845" cy="875109"/>
            <a:chOff x="523577" y="3282032"/>
            <a:chExt cx="8096845" cy="875109"/>
          </a:xfrm>
        </p:grpSpPr>
        <p:sp>
          <p:nvSpPr>
            <p:cNvPr id="14" name="Shape 12"/>
            <p:cNvSpPr/>
            <p:nvPr/>
          </p:nvSpPr>
          <p:spPr>
            <a:xfrm>
              <a:off x="523577" y="3282032"/>
              <a:ext cx="8096845" cy="875109"/>
            </a:xfrm>
            <a:prstGeom prst="roundRect">
              <a:avLst>
                <a:gd name="adj" fmla="val 2564"/>
              </a:avLst>
            </a:prstGeom>
            <a:solidFill>
              <a:srgbClr val="183A13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150" y="3509516"/>
              <a:ext cx="187003" cy="149572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1009724" y="3468960"/>
              <a:ext cx="7461126" cy="478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150" dirty="0">
                  <a:solidFill>
                    <a:srgbClr val="FFFFFF"/>
                  </a:solidFill>
                  <a:latin typeface="Cabin" pitchFamily="34" charset="0"/>
                  <a:ea typeface="Cabin" pitchFamily="34" charset="-122"/>
                  <a:cs typeface="Cabin" pitchFamily="34" charset="-120"/>
                </a:rPr>
                <a:t>The project demonstrates that a carefully designed U-Net trained from scratch, with proper data preprocessing and a combined Dice+BCE loss, delivers high-quality automotive segmentation competitive with industry standards.</a:t>
              </a:r>
              <a:endParaRPr lang="en-US" sz="115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2826693" y="4381500"/>
            <a:ext cx="349054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900113"/>
            <a:ext cx="4667845" cy="2640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900"/>
              </a:lnSpc>
              <a:buNone/>
            </a:pPr>
            <a:r>
              <a:rPr lang="en-US" sz="5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Any Questions?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3952577" y="3764533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Now's the time — open the floor for discussion, feedback, or deep dives into any aspect of the segmentation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786" y="385465"/>
            <a:ext cx="3279428" cy="4372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900038"/>
            <a:ext cx="4667845" cy="2640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50"/>
              </a:lnSpc>
              <a:buNone/>
            </a:pPr>
            <a:r>
              <a:rPr lang="en-US" sz="8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8300" dirty="0"/>
          </a:p>
        </p:txBody>
      </p:sp>
      <p:sp>
        <p:nvSpPr>
          <p:cNvPr id="5" name="Text 2"/>
          <p:cNvSpPr/>
          <p:nvPr/>
        </p:nvSpPr>
        <p:spPr>
          <a:xfrm>
            <a:off x="523577" y="3764607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appreciate your time and attention. Reach out to continue the conversation.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1040</Words>
  <Application>Microsoft Office PowerPoint</Application>
  <PresentationFormat>On-screen Show (16:9)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Cabin</vt:lpstr>
      <vt:lpstr>Unbounded</vt:lpstr>
      <vt:lpstr>Arial</vt:lpstr>
      <vt:lpstr>Unbounded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Omar Mohamed Saeed Abbas Elsaid</cp:lastModifiedBy>
  <cp:revision>3</cp:revision>
  <dcterms:created xsi:type="dcterms:W3CDTF">2026-05-12T23:56:19Z</dcterms:created>
  <dcterms:modified xsi:type="dcterms:W3CDTF">2026-05-13T06:00:40Z</dcterms:modified>
</cp:coreProperties>
</file>